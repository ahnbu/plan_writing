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994C"/>
                </a:solidFill>
                <a:latin typeface="Malgun Gothic"/>
              </a:defRPr>
            </a:pPr>
            <a:r>
              <a:t>표지 : 중고나라 부활을 위한 전략적 전환(Pivot)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latin typeface="Malgun Gothic"/>
              </a:defRPr>
            </a:pPr>
            <a:r>
              <a:t>C2C 패권 경쟁을 넘어 국내 최대 리퍼비시 플랫폼으로 재도약</a:t>
            </a:r>
          </a:p>
          <a:p/>
          <a:p>
            <a:r>
              <a:t>프로젝트명 : 중고나라 점유율 탈환 및 비즈니스 모델 혁신 전략</a:t>
            </a:r>
          </a:p>
          <a:p>
            <a:r>
              <a:t>작성일 : 2026년 1월 24일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Malgun Gothic"/>
              </a:defRPr>
            </a:pPr>
            <a:r>
              <a:t>현실 진단 : C2C 패권 전쟁은 이미 종료되었으며, 중고나라의 완패를 인정해야 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MSG: 트래픽 경쟁은 더 이상 무의미하며 새로운 전장(CPO)을 찾아야 함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MAU 격차 : 당근마켓(2,000만) vs 중고나라(100만)의 20배 격차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브랜드 실종 : '사기 이미지'와 '낙후된 UX'로 인한 MZ세대 유입 차단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04040"/>
                </a:solidFill>
                <a:latin typeface="Malgun Gothic"/>
              </a:defRPr>
            </a:pPr>
            <a:r>
              <a:t>[Visual Plan]</a:t>
            </a:r>
            <a:br/>
            <a:r>
              <a:t>3사(당근, 번개, 중고나라) MAU 추이를 비교하는 꺾은선 그래프 강조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Malgun Gothic"/>
              </a:defRPr>
            </a:pPr>
            <a:r>
              <a:t>핵심 난제 : '사기'라는 부채를 해결하지 못하면 어떤 전략도 유효하지 않음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MSG: 고객이 중고나라를 떠난 본질적 이유는 '불안함'임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이탈 원인 1순위 : 안전결제 시스템 부재 및 사기 피해 우려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경쟁 우위 분실 : 번개장터의 '번개케어' 등 경쟁사는 이미 '신뢰'를 자산화함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04040"/>
                </a:solidFill>
                <a:latin typeface="Malgun Gothic"/>
              </a:defRPr>
            </a:pPr>
            <a:r>
              <a:t>[Visual Plan]</a:t>
            </a:r>
            <a:br/>
            <a:r>
              <a:t>사용자 인터뷰 키워드 클라우드 (사기, 불안, 업자 등 부정어 중심)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Malgun Gothic"/>
              </a:defRPr>
            </a:pPr>
            <a:r>
              <a:t>새로운 기회 : 당근과 번개가 내쫓은 '전문 셀러'들이 우리의 핵심 자산임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MSG: 경쟁사의 '업자 탄압' 정책을 역이용한 공급망(Supply Chain) 확보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경쟁사 동향 : 당근/번개의 '개인간 거래' 강화로 전문 셀러 퇴출 가속화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중고나라의 역할 : 갈 곳 없는 10만 전문 셀러를 '공식 파트너'로 양성화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04040"/>
                </a:solidFill>
                <a:latin typeface="Malgun Gothic"/>
              </a:defRPr>
            </a:pPr>
            <a:r>
              <a:t>[Visual Plan]</a:t>
            </a:r>
            <a:br/>
            <a:r>
              <a:t>경쟁 플랫폼에서 쫓겨나는 업자와 중고나라로 환영받는 셀러의 대비 구조도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Malgun Gothic"/>
              </a:defRPr>
            </a:pPr>
            <a:r>
              <a:t>롯데 시너지 : 자체 소진되던 롯데 유통 재고를 중고나라의 핵심 물량으로 전환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MSG: 롯데하이마트/홈쇼핑의 악성 재고 문제를 해결하며 'S급 상품' 공급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재고 현황 : 오프라인에서 매장 리뉴얼 등으로 소진되는 가전/디지털 재고 다수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협력 모델 : 중고나라 전용 '인증 기획전'을 통한 현금 유동성 공급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04040"/>
                </a:solidFill>
                <a:latin typeface="Malgun Gothic"/>
              </a:defRPr>
            </a:pPr>
            <a:r>
              <a:t>[Visual Plan]</a:t>
            </a:r>
            <a:br/>
            <a:r>
              <a:t>롯데 유통망에서 중고나라로 이어지는 재고 선순환 파이프라인 개념도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Malgun Gothic"/>
              </a:defRPr>
            </a:pPr>
            <a:r>
              <a:t>전략적 솔루션 : 'J-Certified(인증 중고)' 브랜드를 통한 비즈니스 모델 피벗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MSG: 트래픽(광고) 모델에서 거래(수수료) 모델로의 완전한 전환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Dual-Track : 기존 C2C는 트래픽용으로 유지, '인증 마켓'은 수익용으로 운영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수익 구조 : 판매 수수료 5% + 보증 보험료 + 셀러 전용 SaaS 이용료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04040"/>
                </a:solidFill>
                <a:latin typeface="Malgun Gothic"/>
              </a:defRPr>
            </a:pPr>
            <a:r>
              <a:t>[Visual Plan]</a:t>
            </a:r>
            <a:br/>
            <a:r>
              <a:t>기존 비즈니스 모델(AS-IS)과 신규 비즈니스 모델(TO-BE) 비교표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Malgun Gothic"/>
              </a:defRPr>
            </a:pPr>
            <a:r>
              <a:t>인프라 혁신 : '수리 장인'을 테크니션으로 격상시켜 신뢰를 시스템화함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MSG: 단순 판매를 넘어 검수와 수리를 책임지는 전문가 그룹 형성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파트너십 : 전국 사설 수리점 네트워크를 '공식 인증센터'로 지정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증명 방식 : 검수 영상 첨부 및 6개월 무상 AS 보장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04040"/>
                </a:solidFill>
                <a:latin typeface="Malgun Gothic"/>
              </a:defRPr>
            </a:pPr>
            <a:r>
              <a:t>[Visual Plan]</a:t>
            </a:r>
            <a:br/>
            <a:r>
              <a:t>스마트폰 수리 영상이 상세페이지에 임베딩된 모바일 UI 목업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Malgun Gothic"/>
              </a:defRPr>
            </a:pPr>
            <a:r>
              <a:t>단기 로드맵 : 롯데렌탈 연계 파일럿으로 '인증 중고'의 성공 가능성 입증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MSG: 3개월 내 가시적인 성과를 창출하여 전사적 확산 추진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Pilot Phase : 롯데렌탈 회수 노트북 1,000대 '단독 리퍼전' 런칭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성공 지표 : 완판 여부, 사용자 보증 보험 가입률, 고객 만족도(NPS)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04040"/>
                </a:solidFill>
                <a:latin typeface="Malgun Gothic"/>
              </a:defRPr>
            </a:pPr>
            <a:r>
              <a:t>[Visual Plan]</a:t>
            </a:r>
            <a:br/>
            <a:r>
              <a:t>Phase 1(시범) -&gt; Phase 2(확대) -&gt; Phase 3(안착) 3단계 간트 차트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Malgun Gothic"/>
              </a:defRPr>
            </a:pPr>
            <a:r>
              <a:t>기대 효과 : '한국의 Back Market'으로서의 기업가치 재평가 및 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MSG: 단순 플랫폼에서 가전/테크 리퍼비시 버티컬 독보적 1위 등극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재평가 : C2C 앱이 아닌 '지속가능 커머스(Circular Economy)'로 Valuation 격상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사회적 가치 : 자원 순환 기여를 통한 ESG 경영 실천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04040"/>
                </a:solidFill>
                <a:latin typeface="Malgun Gothic"/>
              </a:defRPr>
            </a:pPr>
            <a:r>
              <a:t>[Visual Plan]</a:t>
            </a:r>
            <a:br/>
            <a:r>
              <a:t>글로벌 유니콘 Back Market의 성장 곡선과 중고나라의 미래 투사도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Malgun Gothic"/>
              </a:defRPr>
            </a:pPr>
            <a:r>
              <a:t>결론 : 지금은 선택이 아닌 생존의 시간, 즉시 실행을 제언함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 b="1">
                <a:solidFill>
                  <a:srgbClr val="00994C"/>
                </a:solidFill>
                <a:latin typeface="Malgun Gothic"/>
              </a:defRPr>
            </a:pPr>
            <a:r>
              <a:t>MSG: 망설이는 시간은 경쟁사에게만 이득임</a:t>
            </a:r>
          </a:p>
          <a:p>
            <a:pPr>
              <a:spcAft>
                <a:spcPts val="600"/>
              </a:spcAft>
              <a:defRPr sz="1400">
                <a:latin typeface="Malgun Gothic"/>
              </a:defRPr>
            </a:pPr>
            <a:r>
              <a:t>• 즉시 조치 : 롯데 계열사 재고 연동 TF 구성 및 파트너 센터 개발 착수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04040"/>
                </a:solidFill>
                <a:latin typeface="Malgun Gothic"/>
              </a:defRPr>
            </a:pPr>
            <a:r>
              <a:t>[Visual Plan]</a:t>
            </a:r>
            <a:br/>
            <a:r>
              <a:t>강렬한 'Call to Action' 메시지와 함께 프로젝트 팀의 각오 상징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